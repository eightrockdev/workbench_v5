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12064" cy="512064"/>
          </a:xfrm>
          <a:prstGeom prst="octagon">
            <a:avLst/>
          </a:prstGeom>
          <a:solidFill>
            <a:srgbClr val="0F1117"/>
          </a:solidFill>
          <a:ln w="28575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ROCK</a:t>
            </a:r>
            <a:pPr algn="l" indent="0" marL="0">
              <a:buNone/>
            </a:pPr>
            <a:r>
              <a:rPr lang="en-US" sz="1100" b="1" spc="300" kern="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WORKBENCH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400032" y="32918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161B27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00032" y="3291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 · AUG 1, 2026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896112"/>
            <a:ext cx="11365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spc="50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DOOR THE INCUMBENTS CAN’T SEE.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1365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Yardi Matrix stops at 50 units. CoStar starts at $40K a year. We built an ownable property backbone straight from the public record — </a:t>
            </a:r>
            <a:pPr algn="l" indent="0" marL="0">
              <a:buNone/>
            </a:pPr>
            <a:r>
              <a:rPr lang="en-US" sz="13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parcel, every unit count, zero data licenses</a:t>
            </a:r>
            <a:pPr algn="l" indent="0" marL="0">
              <a:buNone/>
            </a:pPr>
            <a:r>
              <a:rPr lang="en-US" sz="130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wired it into the only platform that runs the entire acquisition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3657600" cy="1993392"/>
          </a:xfrm>
          <a:prstGeom prst="roundRect">
            <a:avLst>
              <a:gd name="adj" fmla="val 4128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68880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414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DESERT IS OURS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" y="2852928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Yardi Matrix has a hard floor at 50 units — our own 26-unit deal was invisible to it, confirmed by Yardi’s own account executive. The 10–49 unit market is a 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unserved data desert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Our backbone has no floor: 19,572 multifamily assets on watch today, at every unit count.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65676" y="2286000"/>
            <a:ext cx="3657600" cy="1993392"/>
          </a:xfrm>
          <a:prstGeom prst="roundRect">
            <a:avLst>
              <a:gd name="adj" fmla="val 4128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8556" y="2468880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4316" y="24414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MOAT NOBODY CAN REPOSSESS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66844" y="2852928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rent their moat from data vendors. Ours is built from municipal public records at 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marginal data cost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license to renegotiate, no contract to lose, no floor set by someone else’s survey. The pipeline discovers, geo-verifies, and heals its own feeds on every pull.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9872" y="2286000"/>
            <a:ext cx="3657600" cy="1993392"/>
          </a:xfrm>
          <a:prstGeom prst="roundRect">
            <a:avLst>
              <a:gd name="adj" fmla="val 4128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2468880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24414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LOOP, ONE LOGIN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852928"/>
            <a:ext cx="3255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else takes a deal from found, to the real owner behind the LLC, to a call that connects, to an underwritten verdict. Buyers stitch together four subscriptions at </a:t>
            </a:r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$20–40K+ a year</a:t>
            </a:r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approximate it. We do it in one login — and every phone number is legally screened against do-not-call rules before anyone dials.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352544"/>
            <a:ext cx="11365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LIFECYCLE. ONE LOGIN.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590288"/>
            <a:ext cx="2670048" cy="804672"/>
          </a:xfrm>
          <a:prstGeom prst="roundRect">
            <a:avLst>
              <a:gd name="adj" fmla="val 9091"/>
            </a:avLst>
          </a:prstGeom>
          <a:solidFill>
            <a:srgbClr val="1E2536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4700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" y="49926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off-market · reach the owner · underwrite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99816" y="4892040"/>
            <a:ext cx="182880" cy="201168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05556" y="4590288"/>
            <a:ext cx="2670048" cy="804672"/>
          </a:xfrm>
          <a:prstGeom prst="roundRect">
            <a:avLst>
              <a:gd name="adj" fmla="val 9091"/>
            </a:avLst>
          </a:prstGeom>
          <a:solidFill>
            <a:srgbClr val="1E2536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3572" y="4700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33572" y="49926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with AppFolio &amp; your PM stack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3892" y="4892040"/>
            <a:ext cx="182880" cy="201168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4590288"/>
            <a:ext cx="2670048" cy="804672"/>
          </a:xfrm>
          <a:prstGeom prst="roundRect">
            <a:avLst>
              <a:gd name="adj" fmla="val 9091"/>
            </a:avLst>
          </a:prstGeom>
          <a:solidFill>
            <a:srgbClr val="1E2536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4700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27648" y="49926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LP/GP waterfalls · K-1-ready for your CPA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87968" y="4892040"/>
            <a:ext cx="182880" cy="201168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93708" y="4590288"/>
            <a:ext cx="2670048" cy="804672"/>
          </a:xfrm>
          <a:prstGeom prst="roundRect">
            <a:avLst>
              <a:gd name="adj" fmla="val 9091"/>
            </a:avLst>
          </a:prstGeom>
          <a:solidFill>
            <a:srgbClr val="1E2536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21724" y="47000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221724" y="49926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health on one screen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5504688"/>
            <a:ext cx="11365992" cy="987552"/>
          </a:xfrm>
          <a:prstGeom prst="roundRect">
            <a:avLst>
              <a:gd name="adj" fmla="val 8333"/>
            </a:avLst>
          </a:prstGeom>
          <a:solidFill>
            <a:srgbClr val="1E2536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5961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 </a:t>
            </a:r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YARDI MATRIX · COSTAR · REONOMY · TERRAKOTTA · REDIQ · DEALPATH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5852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suite the small and mid-size shop could never afford — priced for the shop, not the institution.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6199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by CRE owners &amp; operators, for CRE owners &amp; operators.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56509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309360" y="60899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 next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53528" y="56509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30–60M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653528" y="60899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97696" y="56509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 hrs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8997696" y="60899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refresh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41864" y="565099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341864" y="608990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licenses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6583680"/>
            <a:ext cx="11365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Rock Capital Partners  ·  competitive analysis July 2026, 17 platforms  ·  Hampton Roads live today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2026-07-29T18:28:42Z</dcterms:created>
  <dcterms:modified xsi:type="dcterms:W3CDTF">2026-07-29T18:28:42Z</dcterms:modified>
</cp:coreProperties>
</file>