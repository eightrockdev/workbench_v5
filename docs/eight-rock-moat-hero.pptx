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274320"/>
            <a:ext cx="512064" cy="512064"/>
          </a:xfrm>
          <a:prstGeom prst="octagon">
            <a:avLst/>
          </a:prstGeom>
          <a:solidFill>
            <a:srgbClr val="0F1117"/>
          </a:solidFill>
          <a:ln w="28575">
            <a:solidFill>
              <a:srgbClr val="D4A01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8R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42416" y="274320"/>
            <a:ext cx="5120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300" kern="0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ROCK</a:t>
            </a:r>
            <a:pPr algn="l" indent="0" marL="0">
              <a:buNone/>
            </a:pPr>
            <a:r>
              <a:rPr lang="en-US" sz="1100" b="1" spc="300" kern="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WORKBENCH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46920" y="329184"/>
            <a:ext cx="2130552" cy="402336"/>
          </a:xfrm>
          <a:prstGeom prst="roundRect">
            <a:avLst>
              <a:gd name="adj" fmla="val 50000"/>
            </a:avLst>
          </a:prstGeom>
          <a:solidFill>
            <a:srgbClr val="161B27"/>
          </a:solidFill>
          <a:ln w="12700">
            <a:solidFill>
              <a:srgbClr val="3A45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46920" y="329184"/>
            <a:ext cx="21305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IN PRODUCTION · JUL 2026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11480" y="896112"/>
            <a:ext cx="113659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spc="50" kern="0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DOOR THE INCUMBENTS CAN’T SEE.</a:t>
            </a:r>
            <a:endParaRPr lang="en-US" sz="3700" dirty="0"/>
          </a:p>
        </p:txBody>
      </p:sp>
      <p:sp>
        <p:nvSpPr>
          <p:cNvPr id="8" name="Text 6"/>
          <p:cNvSpPr/>
          <p:nvPr/>
        </p:nvSpPr>
        <p:spPr>
          <a:xfrm>
            <a:off x="411480" y="1572768"/>
            <a:ext cx="11365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Yardi Matrix stops at 50 units. CoStar starts at $40K a year. We built an ownable property spine straight from the public record — </a:t>
            </a:r>
            <a:pPr algn="l" indent="0" marL="0">
              <a:buNone/>
            </a:pPr>
            <a:r>
              <a:rPr lang="en-US" sz="130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parcel, every unit count, zero data licenses</a:t>
            </a:r>
            <a:pPr algn="l" indent="0" marL="0">
              <a:buNone/>
            </a:pPr>
            <a:r>
              <a:rPr lang="en-US" sz="130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wired it into the only platform that runs the entire acquisition loop.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286000"/>
            <a:ext cx="3657600" cy="1993392"/>
          </a:xfrm>
          <a:prstGeom prst="roundRect">
            <a:avLst>
              <a:gd name="adj" fmla="val 4128"/>
            </a:avLst>
          </a:prstGeom>
          <a:solidFill>
            <a:srgbClr val="161B27"/>
          </a:solidFill>
          <a:ln w="15875">
            <a:solidFill>
              <a:srgbClr val="3A456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4360" y="2468880"/>
            <a:ext cx="274320" cy="274320"/>
          </a:xfrm>
          <a:prstGeom prst="octag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4414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DESERT IS OURS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12648" y="2852928"/>
            <a:ext cx="3255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Yardi Matrix has a hard floor at 50 units — our own 26-unit deal was invisible to it, confirmed by Yardi’s own account executive. The 10–49 unit market is a 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structurally unserved data desert</a:t>
            </a:r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Our spine has no floor: 19,572 multifamily assets on watch today, at every unit count.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5676" y="2286000"/>
            <a:ext cx="3657600" cy="1993392"/>
          </a:xfrm>
          <a:prstGeom prst="roundRect">
            <a:avLst>
              <a:gd name="adj" fmla="val 4128"/>
            </a:avLst>
          </a:prstGeom>
          <a:solidFill>
            <a:srgbClr val="161B27"/>
          </a:solidFill>
          <a:ln w="15875">
            <a:solidFill>
              <a:srgbClr val="3A456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48556" y="2468880"/>
            <a:ext cx="274320" cy="274320"/>
          </a:xfrm>
          <a:prstGeom prst="octag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4316" y="24414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MOAT NOBODY CAN REPOSSESS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66844" y="2852928"/>
            <a:ext cx="3255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Incumbents rent their moat from data vendors. Ours is built from municipal public records at 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 marginal data cost</a:t>
            </a:r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no license to renegotiate, no contract to lose, no floor set by someone else’s survey. The pipeline discovers, geo-verifies, and heals its own feeds on every pull.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19872" y="2286000"/>
            <a:ext cx="3657600" cy="1993392"/>
          </a:xfrm>
          <a:prstGeom prst="roundRect">
            <a:avLst>
              <a:gd name="adj" fmla="val 4128"/>
            </a:avLst>
          </a:prstGeom>
          <a:solidFill>
            <a:srgbClr val="161B27"/>
          </a:solidFill>
          <a:ln w="15875">
            <a:solidFill>
              <a:srgbClr val="3A456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02752" y="2468880"/>
            <a:ext cx="274320" cy="274320"/>
          </a:xfrm>
          <a:prstGeom prst="octag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68512" y="2441448"/>
            <a:ext cx="2971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LOOP, ONE LOGIN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21040" y="2852928"/>
            <a:ext cx="325526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competitor connects find → pierce the LLC → contact → underwrite → verdict. Buyers assemble Reonomy + Terrakotta + redIQ + Dealpath for </a:t>
            </a:r>
            <a:pPr algn="l"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$20–40K+/yr across four logins</a:t>
            </a:r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DC5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and still don’t get the TCPA/DNC compliance gate we ship built-in.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1480" y="4498848"/>
            <a:ext cx="2670048" cy="841248"/>
          </a:xfrm>
          <a:prstGeom prst="roundRect">
            <a:avLst>
              <a:gd name="adj" fmla="val 8696"/>
            </a:avLst>
          </a:prstGeom>
          <a:solidFill>
            <a:srgbClr val="1E2536"/>
          </a:solidFill>
          <a:ln w="12700">
            <a:solidFill>
              <a:srgbClr val="3A456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460857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RECORD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39496" y="4901184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live feeds · 3.67M records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099816" y="4818888"/>
            <a:ext cx="182880" cy="201168"/>
          </a:xfrm>
          <a:prstGeom prst="chevr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05556" y="4498848"/>
            <a:ext cx="2670048" cy="841248"/>
          </a:xfrm>
          <a:prstGeom prst="roundRect">
            <a:avLst>
              <a:gd name="adj" fmla="val 8696"/>
            </a:avLst>
          </a:prstGeom>
          <a:solidFill>
            <a:srgbClr val="1E2536"/>
          </a:solidFill>
          <a:ln w="12700">
            <a:solidFill>
              <a:srgbClr val="3A456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3572" y="460857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SELF-TUNING ETL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433572" y="4901184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discovers · verifies · heals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93892" y="4818888"/>
            <a:ext cx="182880" cy="201168"/>
          </a:xfrm>
          <a:prstGeom prst="chevr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9632" y="4498848"/>
            <a:ext cx="2670048" cy="841248"/>
          </a:xfrm>
          <a:prstGeom prst="roundRect">
            <a:avLst>
              <a:gd name="adj" fmla="val 8696"/>
            </a:avLst>
          </a:prstGeom>
          <a:solidFill>
            <a:srgbClr val="1E2536"/>
          </a:solidFill>
          <a:ln w="12700">
            <a:solidFill>
              <a:srgbClr val="3A456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27648" y="460857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8R SPINE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327648" y="4901184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939,937 parcels · owned outright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887968" y="4818888"/>
            <a:ext cx="182880" cy="201168"/>
          </a:xfrm>
          <a:prstGeom prst="chevron">
            <a:avLst/>
          </a:prstGeom>
          <a:solidFill>
            <a:srgbClr val="D4A017"/>
          </a:solidFill>
          <a:ln w="12700">
            <a:solidFill>
              <a:srgbClr val="D4A01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093708" y="4498848"/>
            <a:ext cx="2670048" cy="841248"/>
          </a:xfrm>
          <a:prstGeom prst="roundRect">
            <a:avLst>
              <a:gd name="adj" fmla="val 8696"/>
            </a:avLst>
          </a:prstGeom>
          <a:solidFill>
            <a:srgbClr val="1E2536"/>
          </a:solidFill>
          <a:ln w="12700">
            <a:solidFill>
              <a:srgbClr val="3A456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221724" y="4608576"/>
            <a:ext cx="2414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FULL-LOOP PLATFORM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221724" y="4901184"/>
            <a:ext cx="2414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→ pierce → underwrite → close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11480" y="5541264"/>
            <a:ext cx="11365992" cy="932688"/>
          </a:xfrm>
          <a:prstGeom prst="roundRect">
            <a:avLst>
              <a:gd name="adj" fmla="val 8824"/>
            </a:avLst>
          </a:prstGeom>
          <a:solidFill>
            <a:srgbClr val="1E2536"/>
          </a:solidFill>
          <a:ln w="19050">
            <a:solidFill>
              <a:srgbClr val="D4A01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" y="566928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REPLACES  </a:t>
            </a:r>
            <a:pPr algn="l" indent="0" marL="0">
              <a:buNone/>
            </a:pPr>
            <a:r>
              <a:rPr lang="en-US" sz="1000" b="1" dirty="0">
                <a:solidFill>
                  <a:srgbClr val="F5F7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YARDI MATRIX · COSTAR · REONOMY · TERRAKOTTA · REDIQ · DEALPATH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" y="599846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platform. Transparent pricing. Built for the segment the giants price out.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309360" y="5632704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6309360" y="60716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metros next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7653528" y="5632704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30–60M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7653528" y="60716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997696" y="5632704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4 hrs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8997696" y="60716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refresh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341864" y="5632704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7D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10341864" y="60716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licenses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11480" y="6565392"/>
            <a:ext cx="11365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0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Rock Capital Partners  ·  competitive analysis July 2026, 17 platforms  ·  Hampton Roads live today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2026-07-29T18:10:08Z</dcterms:created>
  <dcterms:modified xsi:type="dcterms:W3CDTF">2026-07-29T18:10:08Z</dcterms:modified>
</cp:coreProperties>
</file>