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66928" cy="566928"/>
          </a:xfrm>
          <a:prstGeom prst="octagon">
            <a:avLst/>
          </a:prstGeom>
          <a:solidFill>
            <a:srgbClr val="0F1117"/>
          </a:solidFill>
          <a:ln w="28575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15568" y="3108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spc="3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ROCK</a:t>
            </a:r>
            <a:pPr algn="l" indent="0" marL="0">
              <a:buNone/>
            </a:pPr>
            <a:r>
              <a:rPr lang="en-US" sz="1100" spc="300" kern="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CAPITAL PARTNERS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" y="60350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WORKBENCH  V5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104120" y="347472"/>
            <a:ext cx="1673352" cy="384048"/>
          </a:xfrm>
          <a:prstGeom prst="roundRect">
            <a:avLst>
              <a:gd name="adj" fmla="val 50000"/>
            </a:avLst>
          </a:prstGeom>
          <a:solidFill>
            <a:srgbClr val="161B27"/>
          </a:solidFill>
          <a:ln w="12700">
            <a:solidFill>
              <a:srgbClr val="3A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04120" y="347472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V5.8.9 · JUL 2026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93268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spc="100" kern="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ARCHITECTURE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11338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intelligence pipeline — </a:t>
            </a:r>
            <a:pPr algn="l" indent="0" marL="0">
              <a:buNone/>
            </a:pPr>
            <a:r>
              <a:rPr lang="en-US" sz="135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Hampton Roads live today</a:t>
            </a:r>
            <a:pPr algn="l" indent="0" marL="0">
              <a:buNone/>
            </a:pPr>
            <a:r>
              <a:rPr lang="en-US" sz="13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engineered to scale to the </a:t>
            </a:r>
            <a:pPr algn="l" indent="0" marL="0">
              <a:buNone/>
            </a:pPr>
            <a:r>
              <a:rPr lang="en-US" sz="135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Top-50 U.S. metros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2999232" cy="2798064"/>
          </a:xfrm>
          <a:prstGeom prst="roundRect">
            <a:avLst>
              <a:gd name="adj" fmla="val 2941"/>
            </a:avLst>
          </a:prstGeom>
          <a:solidFill>
            <a:srgbClr val="161B27"/>
          </a:solidFill>
          <a:ln w="15875">
            <a:solidFill>
              <a:srgbClr val="3A4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" y="2093976"/>
            <a:ext cx="274320" cy="274320"/>
          </a:xfrm>
          <a:prstGeom prst="octagon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2075688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05256" y="235000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records · live public feeds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67004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Chesapeake  </a:t>
            </a:r>
            <a:pPr algn="l" indent="0" marL="0">
              <a:buNone/>
            </a:pPr>
            <a:r>
              <a:rPr lang="en-US" sz="9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ArcGIS layers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41448" y="26700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429,105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91236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Beach  </a:t>
            </a:r>
            <a:pPr algn="l" indent="0" marL="0">
              <a:buNone/>
            </a:pPr>
            <a:r>
              <a:rPr lang="en-US" sz="9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ArcGIS layers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41448" y="29123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268,735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15468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Norfolk  </a:t>
            </a:r>
            <a:pPr algn="l" indent="0" marL="0">
              <a:buNone/>
            </a:pPr>
            <a:r>
              <a:rPr lang="en-US" sz="9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Socrata + permits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41448" y="315468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198,984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339699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Portsmouth  </a:t>
            </a:r>
            <a:pPr algn="l" indent="0" marL="0">
              <a:buNone/>
            </a:pPr>
            <a:r>
              <a:rPr lang="en-US" sz="9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ArcGIS layers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41448" y="33969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109,169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363931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Newport News  </a:t>
            </a:r>
            <a:pPr algn="l" indent="0" marL="0">
              <a:buNone/>
            </a:pPr>
            <a:r>
              <a:rPr lang="en-US" sz="9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parcels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41448" y="36393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54,438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" y="388162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Hampton  </a:t>
            </a:r>
            <a:pPr algn="l" indent="0" marL="0">
              <a:buNone/>
            </a:pPr>
            <a:r>
              <a:rPr lang="en-US" sz="9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CZM layers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441448" y="38816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4,327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412394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Suffolk  </a:t>
            </a:r>
            <a:pPr algn="l" indent="0" marL="0">
              <a:buNone/>
            </a:pPr>
            <a:r>
              <a:rPr lang="en-US" sz="9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active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41448" y="41239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" y="44439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ArcGIS FeatureServer · Socrata SODA · parcels · address points · zoning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502152" y="3200400"/>
            <a:ext cx="274320" cy="310896"/>
          </a:xfrm>
          <a:prstGeom prst="chevron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67912" y="1956816"/>
            <a:ext cx="2578608" cy="2798064"/>
          </a:xfrm>
          <a:prstGeom prst="roundRect">
            <a:avLst>
              <a:gd name="adj" fmla="val 3191"/>
            </a:avLst>
          </a:prstGeom>
          <a:solidFill>
            <a:srgbClr val="161B27"/>
          </a:solidFill>
          <a:ln w="15875">
            <a:solidFill>
              <a:srgbClr val="3A45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14216" y="2093976"/>
            <a:ext cx="274320" cy="274320"/>
          </a:xfrm>
          <a:prstGeom prst="octagon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61688" y="2075688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QUARRY ETL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361688" y="2350008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· verification · hygiene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050792" y="2784348"/>
            <a:ext cx="82296" cy="82296"/>
          </a:xfrm>
          <a:prstGeom prst="octagon">
            <a:avLst/>
          </a:prstGeom>
          <a:solidFill>
            <a:srgbClr val="C8900A"/>
          </a:solidFill>
          <a:ln w="12700">
            <a:solidFill>
              <a:srgbClr val="C890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33672" y="272491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Auto-discovery + field scoring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050792" y="3090672"/>
            <a:ext cx="82296" cy="82296"/>
          </a:xfrm>
          <a:prstGeom prst="octagon">
            <a:avLst/>
          </a:prstGeom>
          <a:solidFill>
            <a:srgbClr val="C8900A"/>
          </a:solidFill>
          <a:ln w="12700">
            <a:solidFill>
              <a:srgbClr val="C890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33672" y="3031236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Geo-verify vs. city bounding box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050792" y="3396996"/>
            <a:ext cx="82296" cy="82296"/>
          </a:xfrm>
          <a:prstGeom prst="octagon">
            <a:avLst/>
          </a:prstGeom>
          <a:solidFill>
            <a:srgbClr val="C8900A"/>
          </a:solidFill>
          <a:ln w="12700">
            <a:solidFill>
              <a:srgbClr val="C890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33672" y="3337560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Wrong-city layer rejection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050792" y="3703320"/>
            <a:ext cx="82296" cy="82296"/>
          </a:xfrm>
          <a:prstGeom prst="octagon">
            <a:avLst/>
          </a:prstGeom>
          <a:solidFill>
            <a:srgbClr val="C8900A"/>
          </a:solidFill>
          <a:ln w="12700">
            <a:solidFill>
              <a:srgbClr val="C890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33672" y="3643884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WGS84 centroid capture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050792" y="4009644"/>
            <a:ext cx="82296" cy="82296"/>
          </a:xfrm>
          <a:prstGeom prst="octagon">
            <a:avLst/>
          </a:prstGeom>
          <a:solidFill>
            <a:srgbClr val="C8900A"/>
          </a:solidFill>
          <a:ln w="12700">
            <a:solidFill>
              <a:srgbClr val="C890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33672" y="3950208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5xx retry · lock tolerance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050792" y="4315968"/>
            <a:ext cx="82296" cy="82296"/>
          </a:xfrm>
          <a:prstGeom prst="octagon">
            <a:avLst/>
          </a:prstGeom>
          <a:solidFill>
            <a:srgbClr val="C8900A"/>
          </a:solidFill>
          <a:ln w="12700">
            <a:solidFill>
              <a:srgbClr val="C890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33672" y="425653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reports → GitHub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547104" y="3200400"/>
            <a:ext cx="274320" cy="310896"/>
          </a:xfrm>
          <a:prstGeom prst="chevron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12864" y="1956816"/>
            <a:ext cx="2450592" cy="2798064"/>
          </a:xfrm>
          <a:prstGeom prst="roundRect">
            <a:avLst>
              <a:gd name="adj" fmla="val 3358"/>
            </a:avLst>
          </a:prstGeom>
          <a:solidFill>
            <a:srgbClr val="161B27"/>
          </a:solidFill>
          <a:ln w="15875">
            <a:solidFill>
              <a:srgbClr val="3A456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59168" y="2093976"/>
            <a:ext cx="274320" cy="274320"/>
          </a:xfrm>
          <a:prstGeom prst="octagon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06640" y="207568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8R SPINE</a:t>
            </a:r>
            <a:endParaRPr lang="en-US" sz="1450" dirty="0"/>
          </a:p>
        </p:txBody>
      </p:sp>
      <p:sp>
        <p:nvSpPr>
          <p:cNvPr id="50" name="Text 48"/>
          <p:cNvSpPr/>
          <p:nvPr/>
        </p:nvSpPr>
        <p:spPr>
          <a:xfrm>
            <a:off x="7406640" y="2350008"/>
            <a:ext cx="1856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property registry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077456" y="2670048"/>
            <a:ext cx="21214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939,937</a:t>
            </a:r>
            <a:endParaRPr lang="en-US" sz="3000" dirty="0"/>
          </a:p>
        </p:txBody>
      </p:sp>
      <p:sp>
        <p:nvSpPr>
          <p:cNvPr id="52" name="Text 50"/>
          <p:cNvSpPr/>
          <p:nvPr/>
        </p:nvSpPr>
        <p:spPr>
          <a:xfrm>
            <a:off x="7077456" y="312724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parcels normalized — 100% coverage (P0-1 gate PASS)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077456" y="3474720"/>
            <a:ext cx="2121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19,572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7077456" y="385876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multifamily assets (≥10 units) under continuous watch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077456" y="437083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8R-{FIPS}-{APN hash}</a:t>
            </a:r>
            <a:pPr algn="l" indent="0" marL="0">
              <a:buNone/>
            </a:pPr>
            <a:r>
              <a:rPr lang="en-US" sz="8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ID spine · ALN-free by construction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454896" y="3200400"/>
            <a:ext cx="274320" cy="310896"/>
          </a:xfrm>
          <a:prstGeom prst="chevron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820656" y="1956816"/>
            <a:ext cx="1956816" cy="2798064"/>
          </a:xfrm>
          <a:prstGeom prst="roundRect">
            <a:avLst>
              <a:gd name="adj" fmla="val 4206"/>
            </a:avLst>
          </a:prstGeom>
          <a:solidFill>
            <a:srgbClr val="161B27"/>
          </a:solidFill>
          <a:ln w="15875">
            <a:solidFill>
              <a:srgbClr val="3A456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966960" y="2093976"/>
            <a:ext cx="274320" cy="274320"/>
          </a:xfrm>
          <a:prstGeom prst="octagon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314432" y="2075688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WORKBENCH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10314432" y="2350008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platform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985248" y="2784348"/>
            <a:ext cx="82296" cy="82296"/>
          </a:xfrm>
          <a:prstGeom prst="octagon">
            <a:avLst/>
          </a:prstGeom>
          <a:solidFill>
            <a:srgbClr val="C8900A"/>
          </a:solidFill>
          <a:ln w="12700">
            <a:solidFill>
              <a:srgbClr val="C8900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149840" y="2724912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engine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9985248" y="3090672"/>
            <a:ext cx="82296" cy="82296"/>
          </a:xfrm>
          <a:prstGeom prst="octagon">
            <a:avLst/>
          </a:prstGeom>
          <a:solidFill>
            <a:srgbClr val="C8900A"/>
          </a:solidFill>
          <a:ln w="12700">
            <a:solidFill>
              <a:srgbClr val="C8900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149840" y="3031236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 + verdicts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9985248" y="3396996"/>
            <a:ext cx="82296" cy="82296"/>
          </a:xfrm>
          <a:prstGeom prst="octagon">
            <a:avLst/>
          </a:prstGeom>
          <a:solidFill>
            <a:srgbClr val="C8900A"/>
          </a:solidFill>
          <a:ln w="12700">
            <a:solidFill>
              <a:srgbClr val="C8900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149840" y="3337560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Skip-trace (Module A)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985248" y="3703320"/>
            <a:ext cx="82296" cy="82296"/>
          </a:xfrm>
          <a:prstGeom prst="octagon">
            <a:avLst/>
          </a:prstGeom>
          <a:solidFill>
            <a:srgbClr val="C8900A"/>
          </a:solidFill>
          <a:ln w="12700">
            <a:solidFill>
              <a:srgbClr val="C8900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149840" y="3643884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QA + stress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985248" y="4009644"/>
            <a:ext cx="82296" cy="82296"/>
          </a:xfrm>
          <a:prstGeom prst="octagon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149840" y="3950208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WATCH / NO-GO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9985248" y="4352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· Postgres RLS</a:t>
            </a:r>
            <a:endParaRPr lang="en-US" sz="800" dirty="0"/>
          </a:p>
          <a:p>
            <a:pPr algn="l" indent="0" marL="0">
              <a:buNone/>
            </a:pPr>
            <a:r>
              <a:rPr lang="en-US" sz="800" i="1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11480" y="4864608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 </a:t>
            </a:r>
            <a:pPr algn="ctr" indent="0" marL="0">
              <a:buNone/>
            </a:pPr>
            <a:r>
              <a:rPr lang="en-US" sz="115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3.67M </a:t>
            </a:r>
            <a:pPr algn="ctr" indent="0" marL="0">
              <a:buNone/>
            </a:pPr>
            <a:r>
              <a:rPr lang="en-US" sz="11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under management  ·  </a:t>
            </a:r>
            <a:pPr algn="ctr" indent="0" marL="0">
              <a:buNone/>
            </a:pPr>
            <a:r>
              <a:rPr lang="en-US" sz="115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</a:t>
            </a:r>
            <a:pPr algn="ctr" indent="0" marL="0">
              <a:buNone/>
            </a:pPr>
            <a:r>
              <a:rPr lang="en-US" sz="11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Hampton Roads feeds  ·  </a:t>
            </a:r>
            <a:pPr algn="ctr" indent="0" marL="0">
              <a:buNone/>
            </a:pPr>
            <a:r>
              <a:rPr lang="en-US" sz="115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70.7% </a:t>
            </a:r>
            <a:pPr algn="ctr" indent="0" marL="0">
              <a:buNone/>
            </a:pPr>
            <a:r>
              <a:rPr lang="en-US" sz="11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parity and climbing  ·  </a:t>
            </a:r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</a:t>
            </a:r>
            <a:pPr algn="ctr" indent="0" marL="0">
              <a:buNone/>
            </a:pPr>
            <a:r>
              <a:rPr lang="en-US" sz="11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spine coverage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411480" y="5248656"/>
            <a:ext cx="11365992" cy="1170432"/>
          </a:xfrm>
          <a:prstGeom prst="roundRect">
            <a:avLst>
              <a:gd name="adj" fmla="val 7031"/>
            </a:avLst>
          </a:prstGeom>
          <a:solidFill>
            <a:srgbClr val="1E2536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8368" y="53949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5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STATE — TOP 50 U.S. METROS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58368" y="572414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pilot  ▸  P0-3 cutover  ▸  metros.json + parallel pulls  ▸  national live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4434840" y="539496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700" dirty="0"/>
          </a:p>
        </p:txBody>
      </p:sp>
      <p:sp>
        <p:nvSpPr>
          <p:cNvPr id="77" name="Text 75"/>
          <p:cNvSpPr/>
          <p:nvPr/>
        </p:nvSpPr>
        <p:spPr>
          <a:xfrm>
            <a:off x="4434840" y="588873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 regions,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config-driven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281928" y="539496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30–60M</a:t>
            </a:r>
            <a:endParaRPr lang="en-US" sz="2700" dirty="0"/>
          </a:p>
        </p:txBody>
      </p:sp>
      <p:sp>
        <p:nvSpPr>
          <p:cNvPr id="79" name="Text 77"/>
          <p:cNvSpPr/>
          <p:nvPr/>
        </p:nvSpPr>
        <p:spPr>
          <a:xfrm>
            <a:off x="6281928" y="588873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 records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nationwide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129016" y="539496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4 hrs</a:t>
            </a:r>
            <a:endParaRPr lang="en-US" sz="2700" dirty="0"/>
          </a:p>
        </p:txBody>
      </p:sp>
      <p:sp>
        <p:nvSpPr>
          <p:cNvPr id="81" name="Text 79"/>
          <p:cNvSpPr/>
          <p:nvPr/>
        </p:nvSpPr>
        <p:spPr>
          <a:xfrm>
            <a:off x="8129016" y="588873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national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9976104" y="539496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7D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700" dirty="0"/>
          </a:p>
        </p:txBody>
      </p:sp>
      <p:sp>
        <p:nvSpPr>
          <p:cNvPr id="83" name="Text 81"/>
          <p:cNvSpPr/>
          <p:nvPr/>
        </p:nvSpPr>
        <p:spPr>
          <a:xfrm>
            <a:off x="9976104" y="588873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per-city code —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learned once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411480" y="6528816"/>
            <a:ext cx="11365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0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Rock Capital Partners  ·  Workbench v5.0  ·  data as of July 29,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2026-07-29T17:44:17Z</dcterms:created>
  <dcterms:modified xsi:type="dcterms:W3CDTF">2026-07-29T17:44:17Z</dcterms:modified>
</cp:coreProperties>
</file>